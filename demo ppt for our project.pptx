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15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Pawar" userId="92c41c5c3549ee61" providerId="LiveId" clId="{D6F9BF86-82C6-4BFE-AAAD-32A3B6C4EDA9}"/>
    <pc:docChg chg="modSld">
      <pc:chgData name="Dinesh Pawar" userId="92c41c5c3549ee61" providerId="LiveId" clId="{D6F9BF86-82C6-4BFE-AAAD-32A3B6C4EDA9}" dt="2026-08-31T14:40:29.287" v="1" actId="1076"/>
      <pc:docMkLst>
        <pc:docMk/>
      </pc:docMkLst>
      <pc:sldChg chg="modSp mod">
        <pc:chgData name="Dinesh Pawar" userId="92c41c5c3549ee61" providerId="LiveId" clId="{D6F9BF86-82C6-4BFE-AAAD-32A3B6C4EDA9}" dt="2026-08-31T14:40:29.287" v="1" actId="1076"/>
        <pc:sldMkLst>
          <pc:docMk/>
          <pc:sldMk cId="0" sldId="261"/>
        </pc:sldMkLst>
        <pc:spChg chg="mod">
          <ac:chgData name="Dinesh Pawar" userId="92c41c5c3549ee61" providerId="LiveId" clId="{D6F9BF86-82C6-4BFE-AAAD-32A3B6C4EDA9}" dt="2026-08-31T14:38:04.642" v="0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Dinesh Pawar" userId="92c41c5c3549ee61" providerId="LiveId" clId="{D6F9BF86-82C6-4BFE-AAAD-32A3B6C4EDA9}" dt="2026-08-31T14:40:29.287" v="1" actId="1076"/>
          <ac:spMkLst>
            <pc:docMk/>
            <pc:sldMk cId="0" sldId="261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F4E79"/>
                </a:solidFill>
                <a:latin typeface="Times New Roman"/>
              </a:defRPr>
            </a:pPr>
            <a:r>
              <a:t>Resolvance — Sovereign Super-Resolution for Sentinel-2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Calibri"/>
              </a:defRPr>
            </a:pPr>
            <a:r>
              <a:t>10m → 3.3m N-Channel  |  Spectral Truth (SAM)  | 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116403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Calibri"/>
              </a:defRPr>
            </a:pPr>
            <a:r>
              <a:t>Problem Statement ID: SIH26142  |  Title: Deep Learning Based Super Resolution Mapping 10m Sentinel-2 → &lt;4m  |  Theme: Space Technology  |  Category: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Calibri"/>
              </a:defRPr>
            </a:pPr>
            <a:r>
              <a:t>Organization: NTRO  |  Team: Antariksh Setu (Resolvance)  |  PS Scale: 10m → 3.3m (3×)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Calibri"/>
              </a:defRPr>
            </a:pPr>
            <a:r>
              <a:t>Project: Fresh Python+PyTorch pipeline — N-band GeoTIFF in → COG GeoTIFF + heatmap out — sovereign, on-prem, QGIS-ready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onsolas"/>
              </a:defRPr>
            </a:pPr>
            <a:r>
              <a:t>KPI: PSNR≥28 SSIM≥0.80 SAM&lt;3° NDVI r&gt;0.98 RMSE&lt;0.3px  |  Demo ≤30s CPU  |  1024×1024×4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2179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Calibri"/>
              </a:defRPr>
            </a:pPr>
            <a:r>
              <a:t>Team Antariksh Setu  |  SIH26142  |  Space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IDEA TITLE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Calibri"/>
              </a:defRPr>
            </a:pPr>
            <a:r>
              <a:t>Resolvance — Sovereign Super-Resolution for Sentinel-2 10m→3.3m N-Channel with Spectral Truth &amp; Uncertainty  |  Antariksh Setu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852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32B20"/>
                </a:solidFill>
                <a:latin typeface="Calibri"/>
              </a:defRPr>
            </a:pPr>
            <a:r>
              <a:t>Problem: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r>
              <a:t>Free Sentinel-2 covers India every 5 days at 10m, but 10m hides roads, buildings and field edges — and &lt;1m commercial data costs $1000s. Without 10m→&lt;4m SR, analysts work blind or overspend.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5852160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Calibri"/>
              </a:defRPr>
            </a:pPr>
            <a:r>
              <a:t>Our Idea: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Resolvance is an AI-powered pipeline with a three-layer approach — N-channel SR, spectral SAM guard, and uncertainty heatmap — ensuring reliable &lt;4m mapping when 10m falls short. It uses tiled ESRGAN/SwinIR 3× trained on synthetic SpaceNet pairs to deliver sharp, spectral-true, trust-scored COGs.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5852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5803D"/>
                </a:solidFill>
                <a:latin typeface="Calibri"/>
              </a:defRPr>
            </a:pPr>
            <a:r>
              <a:t>How It Addresses Problem: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461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700">
                <a:solidFill>
                  <a:srgbClr val="000000"/>
                </a:solidFill>
                <a:latin typeface="Calibri"/>
              </a:defRPr>
            </a:pPr>
            <a:r>
              <a:t>• Eliminates $1000s commercial buy — free 5-day revisit → &lt;4m</a:t>
            </a:r>
          </a:p>
          <a:p>
            <a:pPr>
              <a:spcAft>
                <a:spcPts val="200"/>
              </a:spcAft>
              <a:defRPr sz="700">
                <a:solidFill>
                  <a:srgbClr val="000000"/>
                </a:solidFill>
                <a:latin typeface="Calibri"/>
              </a:defRPr>
            </a:pPr>
            <a:r>
              <a:t>• On-prem 2.6s CPU (1024²×4 tiled), no foreign API</a:t>
            </a:r>
          </a:p>
          <a:p>
            <a:pPr>
              <a:spcAft>
                <a:spcPts val="200"/>
              </a:spcAft>
              <a:defRPr sz="700">
                <a:solidFill>
                  <a:srgbClr val="000000"/>
                </a:solidFill>
                <a:latin typeface="Calibri"/>
              </a:defRPr>
            </a:pPr>
            <a:r>
              <a:t>• Tactical visibility on narrow roads/buildings/fields — QGIS COG EPSG:32643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914400"/>
            <a:ext cx="553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4E79"/>
                </a:solidFill>
                <a:latin typeface="Calibri"/>
              </a:defRPr>
            </a:pPr>
            <a:r>
              <a:t>INNOVATION &amp; UNIQUENESS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143000"/>
            <a:ext cx="5532120" cy="6858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188720"/>
            <a:ext cx="5349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Self-Supervised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3716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SpaceNet 0.5m→10m synthetic pairs solve paired-data gap prompt.txt:103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920240"/>
            <a:ext cx="5532120" cy="685800"/>
          </a:xfrm>
          <a:prstGeom prst="rect">
            <a:avLst/>
          </a:prstGeom>
          <a:solidFill>
            <a:srgbClr val="DEEBF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965960"/>
            <a:ext cx="5349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Spectral Fidelity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N-channel (4/8-band) + SAM loss — no RGB hallucination SAM&lt;3°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697480"/>
            <a:ext cx="5532120" cy="6858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5349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Confidence 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9260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MC-Dropout T=10 viridis — flags hallucinations for defence &gt;0.6 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474720"/>
            <a:ext cx="5532120" cy="685800"/>
          </a:xfrm>
          <a:prstGeom prst="rect">
            <a:avLst/>
          </a:prstGeom>
          <a:solidFill>
            <a:srgbClr val="DEEBF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520440"/>
            <a:ext cx="5349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Vendor-Free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03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ONNX + COG — swap ESRGAN/SwinIR, QGIS-ready, no lock-in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5852160" cy="96012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5669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PIPELINE &amp; 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onsolas"/>
              </a:defRPr>
            </a:pPr>
            <a:r>
              <a:t>Python Flask + Gunicorn</a:t>
            </a:r>
            <a:br/>
            <a:r>
              <a:t>POST /api/infer ≤50MB</a:t>
            </a:r>
            <a:br/>
            <a:r>
              <a:t>tifffile + Affine C×H×W 33550/33922/34735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39"/>
            <a:ext cx="5852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37359"/>
            <a:ext cx="5669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92807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onsolas"/>
              </a:defRPr>
            </a:pPr>
            <a:r>
              <a:t>PyTorch ESRGAN/SwinIR 1×1 N→64</a:t>
            </a:r>
            <a:br/>
            <a:r>
              <a:t>scale=3 10m→3.3m 256→768</a:t>
            </a:r>
            <a:br/>
            <a:r>
              <a:t>Stub bicubic → weights/*.pth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5852160" cy="96012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5669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GEOSPATIAL &amp;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44368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onsolas"/>
              </a:defRPr>
            </a:pPr>
            <a:r>
              <a:t>TileManager 256×16 Gaussian 0.1-1.0</a:t>
            </a:r>
            <a:br/>
            <a:r>
              <a:t>acc/wsum Affine.scale</a:t>
            </a:r>
            <a:br/>
            <a:r>
              <a:t>Vanilla JS + Leaflet COG EPSG:32643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94759"/>
            <a:ext cx="5852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840479"/>
            <a:ext cx="5669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TRAINING, LOSS &amp;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95927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onsolas"/>
              </a:defRPr>
            </a:pPr>
            <a:r>
              <a:t>SpaceNet 0.5m→10m blur+INTER_AREA</a:t>
            </a:r>
            <a:br/>
            <a:r>
              <a:t>L1 +0.1·Perceptual+0.05·SAM</a:t>
            </a:r>
            <a:br/>
            <a:r>
              <a:t>PSNR/SSIM/SAM&lt;3° NDVI&gt;0.98 RMSE&lt;0.3px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640080"/>
            <a:ext cx="5532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685800"/>
            <a:ext cx="5349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F4E79"/>
                </a:solidFill>
                <a:latin typeface="Calibri"/>
              </a:defRPr>
            </a:pPr>
            <a:r>
              <a:t>PIPELINE IMPLEMENTATION &amp; EXPORT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914400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93268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INPUT 10m 4-band EPSG:32643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170432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F4E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16152"/>
            <a:ext cx="5029200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123444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PATCH TILE 256×16 Windowed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472184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F4E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517904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153619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N-CH SR 3× ESRGAN/SwinIR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773936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F4E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819656"/>
            <a:ext cx="5029200" cy="256032"/>
          </a:xfrm>
          <a:prstGeom prst="rect">
            <a:avLst/>
          </a:prstGeom>
          <a:solidFill>
            <a:srgbClr val="DEEBF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183794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SAM + UNCERTAINTY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075688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F4E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121408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13969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STITCH Gaussian Blend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377440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F4E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423160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244144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EXPORT COG + Heatmap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679192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F4E7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724912"/>
            <a:ext cx="5029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274320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QGIS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004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15803D"/>
                </a:solidFill>
                <a:latin typeface="Calibri"/>
              </a:defRPr>
            </a:pPr>
            <a:r>
              <a:t>Synthetic Loop: SpaceNet 0.5m → Blur/Downsample → synthetic 10m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937760"/>
            <a:ext cx="1164031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983480"/>
            <a:ext cx="11430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F4E79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66360"/>
            <a:ext cx="1691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19379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Read</a:t>
            </a:r>
            <a:br/>
            <a:r>
              <a:t>N-band GeoTIFF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3949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5166360"/>
            <a:ext cx="1691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0" y="519379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Tile</a:t>
            </a:r>
            <a:br/>
            <a:r>
              <a:t>Windowed 256+16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53949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5166360"/>
            <a:ext cx="1691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51960" y="519379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SR</a:t>
            </a:r>
            <a:br/>
            <a:r>
              <a:t>N-ch SwinIR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3949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59" y="5166360"/>
            <a:ext cx="1691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26479" y="519379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SAM+Heat</a:t>
            </a:r>
            <a:br/>
            <a:r>
              <a:t>Loss+Dropout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399" y="53949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9" y="5166360"/>
            <a:ext cx="1691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00999" y="519379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Stitch</a:t>
            </a:r>
            <a:br/>
            <a:r>
              <a:t>Gaussian Blend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19" y="539496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29800" y="5166360"/>
            <a:ext cx="1691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75520" y="5193792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Validate+Export</a:t>
            </a:r>
            <a:br/>
            <a:r>
              <a:t>COG + QGIS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Antariksh Setu  |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5852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Analysis of Feasibility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5852160" cy="41148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5669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5803D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3327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Stateless Flask + tiled ML &lt;8GB, 1024² CPU &lt;30s, GPU &lt;10s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852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89888"/>
            <a:ext cx="5669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5803D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Single Docker air-gapped for NTRO on-prem, no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5852160" cy="41148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892807"/>
            <a:ext cx="5669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5803D"/>
                </a:solidFill>
                <a:latin typeface="Calibri"/>
              </a:defRPr>
            </a:pPr>
            <a:r>
              <a:t>Economic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039111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Open Sentinel-2+SpaceNet, Colab Pro ₹2k vs Maxar ₹5-10L/10k km²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8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32B20"/>
                </a:solidFill>
                <a:latin typeface="Calibri"/>
              </a:defRPr>
            </a:pPr>
            <a:r>
              <a:t>Potential Challenges and Risks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97480"/>
            <a:ext cx="27432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7614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Data Pairs: No real same-day 10m↔3m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697480"/>
            <a:ext cx="27432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27614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Hallucination: GAN fakes NDVI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97480"/>
            <a:ext cx="27432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27614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OOM: 5000²×4 → 1GB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697480"/>
            <a:ext cx="27432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7614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000000"/>
                </a:solidFill>
                <a:latin typeface="Calibri"/>
              </a:defRPr>
            </a:pPr>
            <a:r>
              <a:t>8-band Crash: on-spot prompt.txt:98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200400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5803D"/>
                </a:solidFill>
                <a:latin typeface="Calibri"/>
              </a:defRPr>
            </a:pPr>
            <a:r>
              <a:t>Strategies for Overcoming Challenges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2743200" cy="64008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474720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Synthetic Degradation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SpaceNet 0.5m→blur σ0.8+INTER_AREA 6×+1% noise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429000"/>
            <a:ext cx="2743200" cy="640080"/>
          </a:xfrm>
          <a:prstGeom prst="rect">
            <a:avLst/>
          </a:prstGeom>
          <a:solidFill>
            <a:srgbClr val="DEEBF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46120" y="3474720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Uncertainty Heatmap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MC-Dropout T=10 viridis &gt;0.6 red manual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429000"/>
            <a:ext cx="2743200" cy="64008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474720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Dynamic Tiling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256+16 stride240 Gaussian acc/wsum tifffile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429000"/>
            <a:ext cx="2743200" cy="640080"/>
          </a:xfrm>
          <a:prstGeom prst="rect">
            <a:avLst/>
          </a:prstGeom>
          <a:solidFill>
            <a:srgbClr val="DEEBF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80" y="3474720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N-Channel Factory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657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1×1 conv mean-init auto N=1/3/4/8 no crash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Antariksh Setu  |  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Potential Impact on Target Audience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274320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14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Defence &amp; Intelligence (NTRO)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Sovereign sub-4m tactical visibility; eliminates foreign Maxar buys.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8686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914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Government &amp; Disaster (ISRO, NDMA)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Panchayat-level flood/urban mapping without new surveys.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274320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914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AgTech &amp; Insurance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Field boundary + post-disaster crop damage without drones.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8686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9144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F4E79"/>
                </a:solidFill>
                <a:latin typeface="Calibri"/>
              </a:defRPr>
            </a:pPr>
            <a:r>
              <a:t>Analyst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0000"/>
                </a:solidFill>
                <a:latin typeface="Calibri"/>
              </a:defRPr>
            </a:pPr>
            <a:r>
              <a:t>Uncertainty heatmap 0-1 manages liability from hallucinations.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92024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Benefits of the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48840"/>
            <a:ext cx="3657600" cy="82296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1945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Economic Value 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₹111Cr/year @₹5/km² saved; reduces licenses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148840"/>
            <a:ext cx="365760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21945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Strategic &amp; Sovereign 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On-prem air-gapped; secures national EO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2148840"/>
            <a:ext cx="3657600" cy="82296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21945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F4E79"/>
                </a:solidFill>
                <a:latin typeface="Calibri"/>
              </a:defRPr>
            </a:pPr>
            <a:r>
              <a:t>Environmental &amp; Scientific 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468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Calibri"/>
              </a:defRPr>
            </a:pPr>
            <a:r>
              <a:t>Preserves NIR+NDVI for climate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Calibri"/>
              </a:defRPr>
            </a:pPr>
            <a:r>
              <a:t>Antariksh Setu  |  SMART INDIA 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3657600" cy="50292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6858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Key Research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Real-ESRGAN: Wang et al., ICCVW 2021 DOI 10.1109/ICCVW54120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SwinIR</a:t>
            </a:r>
            <a:r>
              <a:rPr dirty="0"/>
              <a:t>: Liang et al., ICCVW 2021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DSen2: </a:t>
            </a:r>
            <a:r>
              <a:rPr dirty="0" err="1"/>
              <a:t>Lanaras</a:t>
            </a:r>
            <a:r>
              <a:rPr dirty="0"/>
              <a:t> et al., RSE 2018 DOI 10.1016/</a:t>
            </a:r>
            <a:r>
              <a:rPr dirty="0" err="1"/>
              <a:t>j.rse</a:t>
            </a:r>
            <a:endParaRPr dirty="0"/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MC-Dropout: Gal &amp; Ghahramani, ICML 2016 PMLR 48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SAM: Kruse et al., RSE 1993 DOI 10.1016/0034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32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Open Datasets &amp;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26080"/>
            <a:ext cx="3566160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SpaceNet</a:t>
            </a:r>
            <a:r>
              <a:rPr dirty="0"/>
              <a:t> 0.5m spacenet.ai prompt.txt:103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Sentinel-2 L2A 10m Copernicus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COG Standard OGC </a:t>
            </a:r>
            <a:r>
              <a:rPr dirty="0" err="1"/>
              <a:t>tifffile</a:t>
            </a:r>
            <a:r>
              <a:rPr dirty="0"/>
              <a:t> 33550/33922/34735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640080"/>
            <a:ext cx="3657600" cy="5029200"/>
          </a:xfrm>
          <a:prstGeom prst="rect">
            <a:avLst/>
          </a:prstGeom>
          <a:solidFill>
            <a:srgbClr val="DEEBF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6858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F4E79"/>
                </a:solidFill>
                <a:latin typeface="Calibri"/>
              </a:defRPr>
            </a:pPr>
            <a:r>
              <a:t>Core Frameworks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2767" y="8686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Rasterio</a:t>
            </a:r>
            <a:r>
              <a:rPr dirty="0"/>
              <a:t>/GDAL + Affine core/io.py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PyTorch</a:t>
            </a:r>
            <a:r>
              <a:rPr dirty="0"/>
              <a:t> + </a:t>
            </a:r>
            <a:r>
              <a:rPr dirty="0" err="1"/>
              <a:t>torchvision</a:t>
            </a:r>
            <a:r>
              <a:rPr dirty="0"/>
              <a:t> Real-ESRGAN core/transforms.py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GeoTIFF.js + Leaflet frontend/static/</a:t>
            </a:r>
            <a:r>
              <a:rPr dirty="0" err="1"/>
              <a:t>js</a:t>
            </a:r>
            <a:r>
              <a:rPr dirty="0"/>
              <a:t>/app.js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scikit-image / </a:t>
            </a:r>
            <a:r>
              <a:rPr dirty="0" err="1"/>
              <a:t>lpips</a:t>
            </a:r>
            <a:r>
              <a:rPr dirty="0"/>
              <a:t> / </a:t>
            </a:r>
            <a:r>
              <a:rPr dirty="0" err="1"/>
              <a:t>albumentations</a:t>
            </a:r>
            <a:r>
              <a:rPr dirty="0"/>
              <a:t> core/metrics.py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640080"/>
            <a:ext cx="377647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685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5803D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8686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prompt.txt:47-52 Expected Solution → PRD 7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prompt.txt:64 SAM + NDVI → SRS 3.6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prompt.txt:98 8-band on-spot → PR-02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prompt.txt:106-115 Judge Q&amp;A → DRD/FAQ</a:t>
            </a:r>
          </a:p>
          <a:p>
            <a:pPr>
              <a:spcAft>
                <a:spcPts val="200"/>
              </a:spcAft>
              <a:defRPr sz="600">
                <a:solidFill>
                  <a:srgbClr val="000000"/>
                </a:solidFill>
                <a:latin typeface="Calibri"/>
              </a:defRPr>
            </a:pPr>
            <a:r>
              <a:rPr dirty="0"/>
              <a:t>• Kepler-404 → </a:t>
            </a:r>
            <a:r>
              <a:rPr dirty="0" err="1"/>
              <a:t>Resolvance</a:t>
            </a:r>
            <a:r>
              <a:rPr dirty="0"/>
              <a:t> fresh v2:6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1018</Words>
  <Application>Microsoft Office PowerPoint</Application>
  <PresentationFormat>Widescreen</PresentationFormat>
  <Paragraphs>127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Pawar</cp:lastModifiedBy>
  <cp:revision>1</cp:revision>
  <dcterms:created xsi:type="dcterms:W3CDTF">2013-01-27T09:14:16Z</dcterms:created>
  <dcterms:modified xsi:type="dcterms:W3CDTF">2026-08-31T14:42:05Z</dcterms:modified>
  <cp:category/>
</cp:coreProperties>
</file>